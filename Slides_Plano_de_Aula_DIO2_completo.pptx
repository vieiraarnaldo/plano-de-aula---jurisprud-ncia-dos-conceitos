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69"/>
  </p:normalViewPr>
  <p:slideViewPr>
    <p:cSldViewPr snapToGrid="0" snapToObjects="1">
      <p:cViewPr varScale="1">
        <p:scale>
          <a:sx n="87" d="100"/>
          <a:sy n="87" d="100"/>
        </p:scale>
        <p:origin x="856" y="4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1/31/26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a:solidFill>
                  <a:srgbClr val="FFFFFF"/>
                </a:solidFill>
              </a:rPr>
              <a:t>História do Direito (6º período)</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Jurisprudência dos Conceitos (Begriffsjurisprudenz)</a:t>
            </a:r>
            <a:br>
              <a:rPr lang="pt-BR" sz="1600"/>
            </a:br>
            <a:br>
              <a:rPr lang="pt-BR" sz="1600"/>
            </a:br>
            <a:r>
              <a:rPr lang="pt-BR" sz="1600"/>
              <a:t>A corrente conceitualista do século XIX busca construir o Direito como sistema lógico-dedutivo de conceitos, com decisão por subsunção e mínima interferência de valores/finalidades sociais.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a:solidFill>
                  <a:srgbClr val="FFFFFF"/>
                </a:solidFill>
              </a:rPr>
              <a:t>Contexto (por que estudar?)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 Tradição alemã do século XIX; codificação e cientificização do Direito</a:t>
            </a:r>
            <a:br>
              <a:rPr lang="pt-BR" sz="1600"/>
            </a:br>
            <a:r>
              <a:rPr lang="pt-BR" sz="1600"/>
              <a:t>• Formalismo e ideal de neutralidade decisória</a:t>
            </a:r>
            <a:br>
              <a:rPr lang="pt-BR" sz="1600"/>
            </a:br>
            <a:r>
              <a:rPr lang="pt-BR" sz="1600"/>
              <a:t>• Contraste com críticas: jurisprudência dos interesses e métodos teleológicos</a:t>
            </a:r>
            <a:br>
              <a:rPr lang="pt-BR" sz="1600"/>
            </a:br>
            <a:r>
              <a:rPr lang="pt-BR" sz="1600"/>
              <a:t>• Relevância para compreender dogmática, formalismo e limites da “pureza conceitual” contemporânea.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2800">
                <a:solidFill>
                  <a:srgbClr val="FFFFFF"/>
                </a:solidFill>
              </a:rPr>
              <a:t>Objetivos de Aprendizagem (1/2)</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Ao final da aula, o estudante será capaz de:</a:t>
            </a:r>
            <a:br>
              <a:rPr lang="pt-BR" sz="1600"/>
            </a:br>
            <a:r>
              <a:rPr lang="pt-BR" sz="1600"/>
              <a:t>1) Definir jurisprudência dos conceitos e identificar pressupostos (sistematização, dedução, subsunção).</a:t>
            </a:r>
            <a:br>
              <a:rPr lang="pt-BR" sz="1600"/>
            </a:br>
            <a:r>
              <a:rPr lang="pt-BR" sz="1600"/>
              <a:t>2) Distinguir o conceitualismo de abordagens teleológicas/interesses (quadro comparativo, ≥3 diferenças).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2800">
                <a:solidFill>
                  <a:srgbClr val="FFFFFF"/>
                </a:solidFill>
              </a:rPr>
              <a:t>Objetivos de Aprendizagem (2/2)</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3) Aplicar raciocínio conceitualista a um microcaso: conceito-chave → regra → subsunção → conclusão.</a:t>
            </a:r>
            <a:br>
              <a:rPr lang="pt-BR" sz="1600"/>
            </a:br>
            <a:r>
              <a:rPr lang="pt-BR" sz="1600"/>
              <a:t>4) Avaliar criticamente limites e riscos (2 argumentos) para decisão judicial e justiça material.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1400">
                <a:solidFill>
                  <a:srgbClr val="FFFFFF"/>
                </a:solidFill>
              </a:rPr>
              <a:t>Habilidades/Competências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 Raciocínio jurídico: classificação, definição, subsunção e argumentação</a:t>
            </a:r>
            <a:br>
              <a:rPr lang="pt-BR" sz="1600"/>
            </a:br>
            <a:r>
              <a:rPr lang="pt-BR" sz="1600"/>
              <a:t>• Leitura/interpretação de textos histórico-dogmáticos</a:t>
            </a:r>
            <a:br>
              <a:rPr lang="pt-BR" sz="1600"/>
            </a:br>
            <a:r>
              <a:rPr lang="pt-BR" sz="1600"/>
              <a:t>• Comparação de correntes e síntese</a:t>
            </a:r>
            <a:br>
              <a:rPr lang="pt-BR" sz="1600"/>
            </a:br>
            <a:r>
              <a:rPr lang="pt-BR" sz="1600"/>
              <a:t>• Comunicação: exposição breve, debate, justificativas</a:t>
            </a:r>
            <a:br>
              <a:rPr lang="pt-BR" sz="1600"/>
            </a:br>
            <a:r>
              <a:rPr lang="pt-BR" sz="1600"/>
              <a:t>• Letramento em IA: formular prompts, checar coerência, detectar vieses e generalizações.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3100">
                <a:solidFill>
                  <a:srgbClr val="FFFFFF"/>
                </a:solidFill>
              </a:rPr>
              <a:t>Conteúdo Programático (1/2)</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 Contexto histórico: codificações, positivismo e ideal de “ciência do Direito”</a:t>
            </a:r>
            <a:br>
              <a:rPr lang="pt-BR" sz="1600"/>
            </a:br>
            <a:r>
              <a:rPr lang="pt-BR" sz="1600"/>
              <a:t>• Conceito de Begriffsjurisprudenz</a:t>
            </a:r>
            <a:br>
              <a:rPr lang="pt-BR" sz="1600"/>
            </a:br>
            <a:r>
              <a:rPr lang="pt-BR" sz="1600"/>
              <a:t>• Elementos estruturantes: sistema conceitual hierarquizado, dedução, subsunção, neutralidade aparente.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3100">
                <a:solidFill>
                  <a:srgbClr val="FFFFFF"/>
                </a:solidFill>
              </a:rPr>
              <a:t>Conteúdo Programático (2/2)</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 Exemplo de raciocínio conceitualista em decisão</a:t>
            </a:r>
            <a:br>
              <a:rPr lang="pt-BR" sz="1600"/>
            </a:br>
            <a:r>
              <a:rPr lang="pt-BR" sz="1600"/>
              <a:t>• Críticas e superações: jurisprudência dos interesses, teleologia, sensibilidade social</a:t>
            </a:r>
            <a:br>
              <a:rPr lang="pt-BR" sz="1600"/>
            </a:br>
            <a:r>
              <a:rPr lang="pt-BR" sz="1600"/>
              <a:t>• Relevância contemporânea: formalismo, dogmática e limites do conceitualismo.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3700">
                <a:solidFill>
                  <a:srgbClr val="FFFFFF"/>
                </a:solidFill>
              </a:rPr>
              <a:t>Mapa do Método (esquema)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Sequência típica:</a:t>
            </a:r>
            <a:br>
              <a:rPr lang="pt-BR" sz="1600"/>
            </a:br>
            <a:br>
              <a:rPr lang="pt-BR" sz="1600"/>
            </a:br>
            <a:r>
              <a:rPr lang="pt-BR" sz="1600"/>
              <a:t>Conceito jurídico → Regra/Noma → Subsunção do fato → Conclusão</a:t>
            </a:r>
            <a:br>
              <a:rPr lang="pt-BR" sz="1600"/>
            </a:br>
            <a:br>
              <a:rPr lang="pt-BR" sz="1600"/>
            </a:br>
            <a:r>
              <a:rPr lang="pt-BR" sz="1600"/>
              <a:t>Ideia-chave: a solução é “descoberta” no sistema, e não construída por ponderação de fins/consequências.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3100">
                <a:solidFill>
                  <a:srgbClr val="FFFFFF"/>
                </a:solidFill>
              </a:rPr>
              <a:t>Metodologia — Passo a Passo</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1) Abertura + ativação de conhecimento prévio</a:t>
            </a:r>
            <a:br>
              <a:rPr lang="pt-BR" sz="1600"/>
            </a:br>
            <a:r>
              <a:rPr lang="pt-BR" sz="1600"/>
              <a:t>2) Mini-exposição guiada (com mapa conceitual)</a:t>
            </a:r>
            <a:br>
              <a:rPr lang="pt-BR" sz="1600"/>
            </a:br>
            <a:r>
              <a:rPr lang="pt-BR" sz="1600"/>
              <a:t>3) Leitura orientada + perguntas</a:t>
            </a:r>
            <a:br>
              <a:rPr lang="pt-BR" sz="1600"/>
            </a:br>
            <a:r>
              <a:rPr lang="pt-BR" sz="1600"/>
              <a:t>4) Atividade em grupos: microcaso e duas decisões</a:t>
            </a:r>
            <a:br>
              <a:rPr lang="pt-BR" sz="1600"/>
            </a:br>
            <a:r>
              <a:rPr lang="pt-BR" sz="1600"/>
              <a:t>5) Socialização rápida</a:t>
            </a:r>
            <a:br>
              <a:rPr lang="pt-BR" sz="1600"/>
            </a:br>
            <a:r>
              <a:rPr lang="pt-BR" sz="1600"/>
              <a:t>6) IA em sala: demonstração crítica</a:t>
            </a:r>
            <a:br>
              <a:rPr lang="pt-BR" sz="1600"/>
            </a:br>
            <a:r>
              <a:rPr lang="pt-BR" sz="1600"/>
              <a:t>7) Fechamento avaliativo (exit ticket).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a:solidFill>
                  <a:srgbClr val="FFFFFF"/>
                </a:solidFill>
              </a:rPr>
              <a:t>Avaliação — Rubrica (visão geral)</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Critérios avaliados:</a:t>
            </a:r>
            <a:br>
              <a:rPr lang="pt-BR" sz="1600"/>
            </a:br>
            <a:r>
              <a:rPr lang="pt-BR" sz="1600"/>
              <a:t>• Compreensão conceitual</a:t>
            </a:r>
            <a:br>
              <a:rPr lang="pt-BR" sz="1600"/>
            </a:br>
            <a:r>
              <a:rPr lang="pt-BR" sz="1600"/>
              <a:t>• Aplicação ao microcaso</a:t>
            </a:r>
            <a:br>
              <a:rPr lang="pt-BR" sz="1600"/>
            </a:br>
            <a:r>
              <a:rPr lang="pt-BR" sz="1600"/>
              <a:t>• Comparação entre correntes</a:t>
            </a:r>
            <a:br>
              <a:rPr lang="pt-BR" sz="1600"/>
            </a:br>
            <a:r>
              <a:rPr lang="pt-BR" sz="1600"/>
              <a:t>• Crítica e limites</a:t>
            </a:r>
            <a:br>
              <a:rPr lang="pt-BR" sz="1600"/>
            </a:br>
            <a:r>
              <a:rPr lang="pt-BR" sz="1600"/>
              <a:t>• Uso crítico da IA</a:t>
            </a:r>
            <a:br>
              <a:rPr lang="pt-BR" sz="1600"/>
            </a:br>
            <a:br>
              <a:rPr lang="pt-BR" sz="1600"/>
            </a:br>
            <a:r>
              <a:rPr lang="pt-BR" sz="1600"/>
              <a:t>(Detalhamento por níveis: Excelente / Bom / A melhorar.)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2800">
                <a:solidFill>
                  <a:srgbClr val="FFFFFF"/>
                </a:solidFill>
              </a:rPr>
              <a:t>Rubrica — Compreensão &amp; Aplicação</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Compreensão conceitual:</a:t>
            </a:r>
            <a:br>
              <a:rPr lang="pt-BR" sz="1600"/>
            </a:br>
            <a:r>
              <a:rPr lang="pt-BR" sz="1600"/>
              <a:t>• Excelente: define com precisão + 2–3 pressupostos</a:t>
            </a:r>
            <a:br>
              <a:rPr lang="pt-BR" sz="1600"/>
            </a:br>
            <a:r>
              <a:rPr lang="pt-BR" sz="1600"/>
              <a:t>• Bom: define corretamente, mas com 1 pressuposto/pouca precisão</a:t>
            </a:r>
            <a:br>
              <a:rPr lang="pt-BR" sz="1600"/>
            </a:br>
            <a:r>
              <a:rPr lang="pt-BR" sz="1600"/>
              <a:t>• A melhorar: confusa ou mistura correntes</a:t>
            </a:r>
            <a:br>
              <a:rPr lang="pt-BR" sz="1600"/>
            </a:br>
            <a:br>
              <a:rPr lang="pt-BR" sz="1600"/>
            </a:br>
            <a:r>
              <a:rPr lang="pt-BR" sz="1600"/>
              <a:t>Aplicação ao microcaso:</a:t>
            </a:r>
            <a:br>
              <a:rPr lang="pt-BR" sz="1600"/>
            </a:br>
            <a:r>
              <a:rPr lang="pt-BR" sz="1600"/>
              <a:t>• Excelente: sequência clara (conceito→regra→subsunção→conclusão)</a:t>
            </a:r>
            <a:br>
              <a:rPr lang="pt-BR" sz="1600"/>
            </a:br>
            <a:r>
              <a:rPr lang="pt-BR" sz="1600"/>
              <a:t>• Bom: sequência com lacunas</a:t>
            </a:r>
            <a:br>
              <a:rPr lang="pt-BR" sz="1600"/>
            </a:br>
            <a:r>
              <a:rPr lang="pt-BR" sz="1600"/>
              <a:t>• A melhorar: sem método/decide sem estrutura.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3100">
                <a:solidFill>
                  <a:srgbClr val="FFFFFF"/>
                </a:solidFill>
              </a:rPr>
              <a:t>Rubrica — Comparação, Crítica e IA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Comparação entre correntes:</a:t>
            </a:r>
            <a:br>
              <a:rPr lang="pt-BR" sz="1600"/>
            </a:br>
            <a:r>
              <a:rPr lang="pt-BR" sz="1600"/>
              <a:t>• Excelente: ≥3 diferenças relevantes</a:t>
            </a:r>
            <a:br>
              <a:rPr lang="pt-BR" sz="1600"/>
            </a:br>
            <a:r>
              <a:rPr lang="pt-BR" sz="1600"/>
              <a:t>• Bom: 2 diferenças adequadas</a:t>
            </a:r>
            <a:br>
              <a:rPr lang="pt-BR" sz="1600"/>
            </a:br>
            <a:r>
              <a:rPr lang="pt-BR" sz="1600"/>
              <a:t>• A melhorar: 0–1 diferença/irrelevantes</a:t>
            </a:r>
            <a:br>
              <a:rPr lang="pt-BR" sz="1600"/>
            </a:br>
            <a:br>
              <a:rPr lang="pt-BR" sz="1600"/>
            </a:br>
            <a:r>
              <a:rPr lang="pt-BR" sz="1600"/>
              <a:t>Crítica e limites:</a:t>
            </a:r>
            <a:br>
              <a:rPr lang="pt-BR" sz="1600"/>
            </a:br>
            <a:r>
              <a:rPr lang="pt-BR" sz="1600"/>
              <a:t>• Excelente: 2 argumentos consistentes com exemplo</a:t>
            </a:r>
            <a:br>
              <a:rPr lang="pt-BR" sz="1600"/>
            </a:br>
            <a:r>
              <a:rPr lang="pt-BR" sz="1600"/>
              <a:t>• Bom: 1 argumento consistente</a:t>
            </a:r>
            <a:br>
              <a:rPr lang="pt-BR" sz="1600"/>
            </a:br>
            <a:r>
              <a:rPr lang="pt-BR" sz="1600"/>
              <a:t>• A melhorar: crítica genérica</a:t>
            </a:r>
            <a:br>
              <a:rPr lang="pt-BR" sz="1600"/>
            </a:br>
            <a:br>
              <a:rPr lang="pt-BR" sz="1600"/>
            </a:br>
            <a:r>
              <a:rPr lang="pt-BR" sz="1600"/>
              <a:t>Uso crítico da IA:</a:t>
            </a:r>
            <a:br>
              <a:rPr lang="pt-BR" sz="1600"/>
            </a:br>
            <a:r>
              <a:rPr lang="pt-BR" sz="1600"/>
              <a:t>• Excelente: identifica acertos/falhas e corrige</a:t>
            </a:r>
            <a:br>
              <a:rPr lang="pt-BR" sz="1600"/>
            </a:br>
            <a:r>
              <a:rPr lang="pt-BR" sz="1600"/>
              <a:t>• Bom: identifica parcialmente</a:t>
            </a:r>
            <a:br>
              <a:rPr lang="pt-BR" sz="1600"/>
            </a:br>
            <a:r>
              <a:rPr lang="pt-BR" sz="1600"/>
              <a:t>• A melhorar: aceita/rejeita sem análise.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3400">
                <a:solidFill>
                  <a:srgbClr val="FFFFFF"/>
                </a:solidFill>
              </a:rPr>
              <a:t>Trecho (CEFR A2) — Versão Simplificada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A jurisprudência dos conceitos pensa o Direito como um sistema lógico. O juiz aplica a lei de forma objetiva, sem considerar valores pessoais ou sociais. Foi importante no século XIX, especialmente na Alemanha, e ajudou a criar regras claras. Mas foi criticada por ser rígida e não considerar necessidades sociais. Estudar o tema ajuda a entender a evolução do Direito e como métodos de decisão afetam a justiça.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3700">
                <a:solidFill>
                  <a:srgbClr val="FFFFFF"/>
                </a:solidFill>
              </a:rPr>
              <a:t>Revisão Inteligente (síntese)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O trecho apresenta o conceito central, origem histórica, aplicação objetiva e críticas (falta de sensibilidade social).</a:t>
            </a:r>
            <a:br>
              <a:rPr lang="pt-BR" sz="1600"/>
            </a:br>
            <a:r>
              <a:rPr lang="pt-BR" sz="1600"/>
              <a:t>A linguagem foi simplificada para estudantes iniciais, mantendo elementos essenciais para introdução e debate.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a:solidFill>
                  <a:srgbClr val="FFFFFF"/>
                </a:solidFill>
              </a:rPr>
              <a:t>Tradução para Inglês (CEFR A2)</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Concept jurisprudence is a way to think about law as a logical system. The judge uses the law in an objective way, without personal or social values. This method was important in the 19th century, especially in Germany, and helped to create clear and organized rules. But it was also criticized for not thinking about society’s needs and for being too strict. Today, studying this topic helps us understand how law changed and how different ways to decide can influence justice.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4100">
                <a:solidFill>
                  <a:srgbClr val="FFFFFF"/>
                </a:solidFill>
              </a:rPr>
              <a:t>Como usar em turma multinível</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 Iniciantes: base para discutir objetividade e justiça</a:t>
            </a:r>
            <a:br>
              <a:rPr lang="pt-BR" sz="1600"/>
            </a:br>
            <a:r>
              <a:rPr lang="pt-BR" sz="1600"/>
              <a:t>• Avançados: ponto de partida para limites do formalismo e comparação com teleologia</a:t>
            </a:r>
            <a:br>
              <a:rPr lang="pt-BR" sz="1600"/>
            </a:br>
            <a:r>
              <a:rPr lang="pt-BR" sz="1600"/>
              <a:t>• Ajuste de perguntas e atividades por perfil, promovendo inclusão e participação.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2800">
                <a:solidFill>
                  <a:srgbClr val="FFFFFF"/>
                </a:solidFill>
              </a:rPr>
              <a:t>Transparência: uso de IA no plano</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A IA ajudou a organizar ideias, estruturar objetivos, sugerir atividades e criar exemplos.</a:t>
            </a:r>
            <a:br>
              <a:rPr lang="pt-BR" sz="1600"/>
            </a:br>
            <a:r>
              <a:rPr lang="pt-BR" sz="1600"/>
              <a:t>Todo o conteúdo deve ser revisado por docente para garantir precisão, adequação ao nível e alinhamento pedagógico.</a:t>
            </a:r>
            <a:br>
              <a:rPr lang="pt-BR" sz="1600"/>
            </a:br>
            <a:r>
              <a:rPr lang="pt-BR" sz="1600"/>
              <a:t>O uso combinado (IA + revisão humana) promove qualidade e responsabilidade.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4100">
                <a:solidFill>
                  <a:srgbClr val="FFFFFF"/>
                </a:solidFill>
              </a:rPr>
              <a:t>Como a IA foi utilizada (processo)</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 Estruturação pedagógica (aula 50 min; 32 estudantes; 6º período)</a:t>
            </a:r>
            <a:br>
              <a:rPr lang="pt-BR" sz="1600"/>
            </a:br>
            <a:r>
              <a:rPr lang="pt-BR" sz="1600"/>
              <a:t>• Alinhamento construtivo (objetivos ↔ atividades ↔ avaliação)</a:t>
            </a:r>
            <a:br>
              <a:rPr lang="pt-BR" sz="1600"/>
            </a:br>
            <a:r>
              <a:rPr lang="pt-BR" sz="1600"/>
              <a:t>• Aprendizagem ativa (mapa conceitual, leitura guiada, microcaso)</a:t>
            </a:r>
            <a:br>
              <a:rPr lang="pt-BR" sz="1600"/>
            </a:br>
            <a:r>
              <a:rPr lang="pt-BR" sz="1600"/>
              <a:t>• IA em sala para verificação crítica (checklist de coerência, vieses, saltos lógicos)</a:t>
            </a:r>
            <a:br>
              <a:rPr lang="pt-BR" sz="1600"/>
            </a:br>
            <a:r>
              <a:rPr lang="pt-BR" sz="1600"/>
              <a:t>• Acessibilidade/diferenciação (papéis no grupo, alternativas de participação).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2800">
                <a:solidFill>
                  <a:srgbClr val="FFFFFF"/>
                </a:solidFill>
              </a:rPr>
              <a:t>Decisões humanas indispensáveis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 Seleção de trechos e referências conforme PPC/bibliografia</a:t>
            </a:r>
            <a:br>
              <a:rPr lang="pt-BR" sz="1600"/>
            </a:br>
            <a:r>
              <a:rPr lang="pt-BR" sz="1600"/>
              <a:t>• Escolha do microcaso adequado (contrato, propriedade, responsabilidade etc.)</a:t>
            </a:r>
            <a:br>
              <a:rPr lang="pt-BR" sz="1600"/>
            </a:br>
            <a:r>
              <a:rPr lang="pt-BR" sz="1600"/>
              <a:t>• Ajuste ao perfil da turma e contexto institucional</a:t>
            </a:r>
            <a:br>
              <a:rPr lang="pt-BR" sz="1600"/>
            </a:br>
            <a:r>
              <a:rPr lang="pt-BR" sz="1600"/>
              <a:t>• Política de uso de IA (privacidade, autoria, ferramentas permitidas).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3100">
                <a:solidFill>
                  <a:srgbClr val="FFFFFF"/>
                </a:solidFill>
              </a:rPr>
              <a:t>Boas práticas e salvaguardas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 Transparência: IA como geradora de rascunhos; turma faz crítica/validação</a:t>
            </a:r>
            <a:br>
              <a:rPr lang="pt-BR" sz="1600"/>
            </a:br>
            <a:r>
              <a:rPr lang="pt-BR" sz="1600"/>
              <a:t>• Triangulação: confrontar saída da IA com texto-base e passos do método</a:t>
            </a:r>
            <a:br>
              <a:rPr lang="pt-BR" sz="1600"/>
            </a:br>
            <a:r>
              <a:rPr lang="pt-BR" sz="1600"/>
              <a:t>• Prompting mínimo e verificável: pedir encadeamento explícito</a:t>
            </a:r>
            <a:br>
              <a:rPr lang="pt-BR" sz="1600"/>
            </a:br>
            <a:r>
              <a:rPr lang="pt-BR" sz="1600"/>
              <a:t>• Registro do processo: guardar prompts e respostas para evidência didática.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a:solidFill>
                  <a:srgbClr val="FFFFFF"/>
                </a:solidFill>
              </a:rPr>
              <a:t>Prompts prontos para uso em sala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1) “Resolva o microcaso apenas com jurisprudência dos conceitos: conceito central, regra, subsunção, conclusão.”</a:t>
            </a:r>
            <a:br>
              <a:rPr lang="pt-BR" sz="1600"/>
            </a:br>
            <a:r>
              <a:rPr lang="pt-BR" sz="1600"/>
              <a:t>2) “Resolva por abordagem teleológica/interesses: finalidade e justificativa.”</a:t>
            </a:r>
            <a:br>
              <a:rPr lang="pt-BR" sz="1600"/>
            </a:br>
            <a:r>
              <a:rPr lang="pt-BR" sz="1600"/>
              <a:t>3) “Aponte 3 falhas: conceitos indefinidos, saltos na subsunção, pressupostos não justificados.”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a:solidFill>
                  <a:srgbClr val="FFFFFF"/>
                </a:solidFill>
              </a:rPr>
              <a:t>Texto curto 1 (apoio)</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A Jurisprudência dos Conceitos pretendeu transformar o Direito em ciência sistemática, com conceitos hierarquizados. Definidos conceitos (propriedade, contrato etc.), deduzem-se soluções por subsunção. Valoriza coerência e reduz preferências do julgador, mas é criticada por supor neutralidade e por lidar mal com lacunas e mudanças sociais.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a:solidFill>
                  <a:srgbClr val="FFFFFF"/>
                </a:solidFill>
              </a:rPr>
              <a:t>Texto curto 2 (apoio)</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Na prática, opera como “engenharia” do Direito: do conceito geral a conceitos específicos, até aplicar a regra ao caso. Fortalece previsibilidade e segurança jurídica, mas conceitos são disputáveis e o mundo social pressiona o sistema. Alternativas enfatizam finalidades, interesses e consequências.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4100">
                <a:solidFill>
                  <a:srgbClr val="FFFFFF"/>
                </a:solidFill>
              </a:rPr>
              <a:t>Exercício (5 questões)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Q1–Q3 (múltipla escolha) + Q4–Q5 (abertas).</a:t>
            </a:r>
            <a:br>
              <a:rPr lang="pt-BR" sz="1600"/>
            </a:br>
            <a:r>
              <a:rPr lang="pt-BR" sz="1600"/>
              <a:t>Tempo sugerido: 10–15 min.</a:t>
            </a:r>
            <a:br>
              <a:rPr lang="pt-BR" sz="1600"/>
            </a:br>
            <a:br>
              <a:rPr lang="pt-BR" sz="1600"/>
            </a:br>
            <a:r>
              <a:rPr lang="pt-BR" sz="1600"/>
              <a:t>Inclui microcaso de anulabilidade contratual por incapacidade relativa; responder de modo conceitualista com passos explícitos.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a:solidFill>
                  <a:srgbClr val="FFFFFF"/>
                </a:solidFill>
              </a:rPr>
              <a:t>Gabarito (síntese)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MC: 1) C  2) B  3) C</a:t>
            </a:r>
            <a:br>
              <a:rPr lang="pt-BR" sz="1600"/>
            </a:br>
            <a:br>
              <a:rPr lang="pt-BR" sz="1600"/>
            </a:br>
            <a:r>
              <a:rPr lang="pt-BR" sz="1600"/>
              <a:t>Espera-se na aberta: vantagens (segurança jurídica, previsibilidade, coerência, controle da arbitrariedade) e limites (rigidez, lacunas, ocultamento de valores, injustiça material).</a:t>
            </a:r>
            <a:br>
              <a:rPr lang="pt-BR" sz="1600"/>
            </a:br>
            <a:r>
              <a:rPr lang="pt-BR" sz="1600"/>
              <a:t>No microcaso: conceito (capacidade), regra (anulabilidade), subsunção e conclusão.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a:solidFill>
                  <a:srgbClr val="FFFFFF"/>
                </a:solidFill>
              </a:rPr>
              <a:t>Atividade em grupo (20–30 min)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“Duas decisões, dois métodos: laboratório dos conceitos”</a:t>
            </a:r>
            <a:br>
              <a:rPr lang="pt-BR" sz="1600"/>
            </a:br>
            <a:r>
              <a:rPr lang="pt-BR" sz="1600"/>
              <a:t>• Produzir duas mini-decisões: A) conceitualista; B) teleológica/interesses</a:t>
            </a:r>
            <a:br>
              <a:rPr lang="pt-BR" sz="1600"/>
            </a:br>
            <a:r>
              <a:rPr lang="pt-BR" sz="1600"/>
              <a:t>• Passos: leitura do caso; conceito-chave; decisão A; decisão B; checklist (2 diferenças + 1 fragilidade cada); relato de 60s por grupo (opcional).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3100">
                <a:solidFill>
                  <a:srgbClr val="FFFFFF"/>
                </a:solidFill>
              </a:rPr>
              <a:t>Adaptações — Perfil A (dificuldades de leitura)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 Objetivos: explicar em 1–2 frases; reconhecer partes (conceito/regra/fato/conclusão); montar mini-resposta com template</a:t>
            </a:r>
            <a:br>
              <a:rPr lang="pt-BR" sz="1600"/>
            </a:br>
            <a:r>
              <a:rPr lang="pt-BR" sz="1600"/>
              <a:t>• Instruções: linguagem simples + passos curtos no slide/quadro</a:t>
            </a:r>
            <a:br>
              <a:rPr lang="pt-BR" sz="1600"/>
            </a:br>
            <a:r>
              <a:rPr lang="pt-BR" sz="1600"/>
              <a:t>• Entrega: marcação e preenchimento; tempo adicional</a:t>
            </a:r>
            <a:br>
              <a:rPr lang="pt-BR" sz="1600"/>
            </a:br>
            <a:r>
              <a:rPr lang="pt-BR" sz="1600"/>
              <a:t>• Recursos: mapa visual, glossário (6 termos), modelo preenchível.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2100">
                <a:solidFill>
                  <a:srgbClr val="FFFFFF"/>
                </a:solidFill>
              </a:rPr>
              <a:t>Adaptações — Perfil B (avançado/interesse alto)</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 Objetivos: reconstruir método e premissas implícitas; testar limites (lacuna/ambiguidade); comparar com outras escolas (interesses, teleologia, positivismo, realismo)</a:t>
            </a:r>
            <a:br>
              <a:rPr lang="pt-BR" sz="1600"/>
            </a:br>
            <a:r>
              <a:rPr lang="pt-BR" sz="1600"/>
              <a:t>• Desafio: seção “Objeção” + caso com camada extra (vulnerabilidade/tecnologia)</a:t>
            </a:r>
            <a:br>
              <a:rPr lang="pt-BR" sz="1600"/>
            </a:br>
            <a:r>
              <a:rPr lang="pt-BR" sz="1600"/>
              <a:t>• IA como adversário: refutar solução “perfeita” apontando saltos e premissas escondidas.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2800">
                <a:solidFill>
                  <a:srgbClr val="FFFFFF"/>
                </a:solidFill>
              </a:rPr>
              <a:t>Alertas éticos/autoria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 Em slides/handouts: usar textos autorais ou trechos curtos com citação</a:t>
            </a:r>
            <a:br>
              <a:rPr lang="pt-BR" sz="1600"/>
            </a:br>
            <a:r>
              <a:rPr lang="pt-BR" sz="1600"/>
              <a:t>• Evitar copiar páginas inteiras de obras protegidas</a:t>
            </a:r>
            <a:br>
              <a:rPr lang="pt-BR" sz="1600"/>
            </a:br>
            <a:r>
              <a:rPr lang="pt-BR" sz="1600"/>
              <a:t>• Se resumir bibliografia com IA: revisar e citar fonte; não apresentar como “leitura do autor” o que é paráfrase gerada</a:t>
            </a:r>
            <a:br>
              <a:rPr lang="pt-BR" sz="1600"/>
            </a:br>
            <a:r>
              <a:rPr lang="pt-BR" sz="1600"/>
              <a:t>• Em avaliação formal: explicitar regras de uso de IA.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pt-BR" sz="3700">
                <a:solidFill>
                  <a:srgbClr val="FFFFFF"/>
                </a:solidFill>
              </a:rPr>
              <a:t>Referências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defRPr sz="1600"/>
            </a:pPr>
            <a:r>
              <a:rPr lang="pt-BR" sz="1600"/>
              <a:t>REALE, Miguel. Lições Preliminares de Direito.</a:t>
            </a:r>
            <a:br>
              <a:rPr lang="pt-BR" sz="1600"/>
            </a:br>
            <a:r>
              <a:rPr lang="pt-BR" sz="1600"/>
              <a:t>LARENZ, Karl. Metodologia da Ciência do Direito.</a:t>
            </a:r>
            <a:br>
              <a:rPr lang="pt-BR" sz="1600"/>
            </a:br>
            <a:r>
              <a:rPr lang="pt-BR" sz="1600"/>
              <a:t>BOBBIO, Norberto. Teoria do Ordenamento Jurídico.</a:t>
            </a:r>
            <a:br>
              <a:rPr lang="pt-BR" sz="1600"/>
            </a:br>
            <a:r>
              <a:rPr lang="pt-BR" sz="1600"/>
              <a:t>LOSANO, Mario G. Sistema e Estrutura no Direito.</a:t>
            </a:r>
            <a:br>
              <a:rPr lang="pt-BR" sz="1600"/>
            </a:br>
            <a:r>
              <a:rPr lang="pt-BR" sz="1600"/>
              <a:t>HESPANHA, António Manuel. Cultura Jurídica Europeia.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1794</Words>
  <Application>Microsoft Macintosh PowerPoint</Application>
  <PresentationFormat>Apresentação na tela (4:3)</PresentationFormat>
  <Paragraphs>60</Paragraphs>
  <Slides>30</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30</vt:i4>
      </vt:variant>
    </vt:vector>
  </HeadingPairs>
  <TitlesOfParts>
    <vt:vector size="33" baseType="lpstr">
      <vt:lpstr>Arial</vt:lpstr>
      <vt:lpstr>Calibri</vt:lpstr>
      <vt:lpstr>Office Theme</vt:lpstr>
      <vt:lpstr>História do Direito (6º período)</vt:lpstr>
      <vt:lpstr>Contexto (por que estudar?)</vt:lpstr>
      <vt:lpstr>Objetivos de Aprendizagem (1/2)</vt:lpstr>
      <vt:lpstr>Objetivos de Aprendizagem (2/2)</vt:lpstr>
      <vt:lpstr>Habilidades/Competências</vt:lpstr>
      <vt:lpstr>Conteúdo Programático (1/2)</vt:lpstr>
      <vt:lpstr>Conteúdo Programático (2/2)</vt:lpstr>
      <vt:lpstr>Mapa do Método (esquema)</vt:lpstr>
      <vt:lpstr>Metodologia — Passo a Passo</vt:lpstr>
      <vt:lpstr>Avaliação — Rubrica (visão geral)</vt:lpstr>
      <vt:lpstr>Rubrica — Compreensão &amp; Aplicação</vt:lpstr>
      <vt:lpstr>Rubrica — Comparação, Crítica e IA</vt:lpstr>
      <vt:lpstr>Trecho (CEFR A2) — Versão Simplificada</vt:lpstr>
      <vt:lpstr>Revisão Inteligente (síntese)</vt:lpstr>
      <vt:lpstr>Tradução para Inglês (CEFR A2)</vt:lpstr>
      <vt:lpstr>Como usar em turma multinível</vt:lpstr>
      <vt:lpstr>Transparência: uso de IA no plano</vt:lpstr>
      <vt:lpstr>Como a IA foi utilizada (processo)</vt:lpstr>
      <vt:lpstr>Decisões humanas indispensáveis</vt:lpstr>
      <vt:lpstr>Boas práticas e salvaguardas</vt:lpstr>
      <vt:lpstr>Prompts prontos para uso em sala</vt:lpstr>
      <vt:lpstr>Texto curto 1 (apoio)</vt:lpstr>
      <vt:lpstr>Texto curto 2 (apoio)</vt:lpstr>
      <vt:lpstr>Exercício (5 questões)</vt:lpstr>
      <vt:lpstr>Gabarito (síntese)</vt:lpstr>
      <vt:lpstr>Atividade em grupo (20–30 min)</vt:lpstr>
      <vt:lpstr>Adaptações — Perfil A (dificuldades de leitura)</vt:lpstr>
      <vt:lpstr>Adaptações — Perfil B (avançado/interesse alto)</vt:lpstr>
      <vt:lpstr>Alertas éticos/autoria</vt:lpstr>
      <vt:lpstr>Referências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Arnaldo Vieira Sousa</cp:lastModifiedBy>
  <cp:revision>2</cp:revision>
  <dcterms:created xsi:type="dcterms:W3CDTF">2013-01-27T09:14:16Z</dcterms:created>
  <dcterms:modified xsi:type="dcterms:W3CDTF">2026-02-01T00:34:10Z</dcterms:modified>
  <cp:category/>
</cp:coreProperties>
</file>